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6B54"/>
                </a:solidFill>
                <a:latin typeface="Helvetica Neue"/>
              </a:rPr>
              <a:t>GLYCOTWIN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D2321"/>
                </a:solidFill>
                <a:latin typeface="Helvetica Neue"/>
              </a:rPr>
              <a:t>Two data streams in, one twin state every 15 minutes, three predictions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E7F1EC"/>
          </a:solidFill>
          <a:ln w="12700">
            <a:solidFill>
              <a:srgbClr val="1D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Static stream: EHR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one row per monitoring period: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age, sex, BMI, years with T2D,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complications, comorbidities,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16 labs (HbA1c, C-peptide, eGFR...),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drugs, past hypoglycaemia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461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E7F1EC"/>
          </a:solidFill>
          <a:ln w="12700">
            <a:solidFill>
              <a:srgbClr val="1D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Dynamic stream: sensor + logs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CGM every 15 min (mg/dL)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meals (free text, grams)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s.c. insulin, pump bolus/basal,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oral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9377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Planned, not in this PoC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FHIR R4 / ABDM records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Apple Health, Google Fit: HR, steps, sleep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03120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Ingest and align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regular 15-min grid per patient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gap fill only up to 30 min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parse meals (g), insulin (IU)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EHR fields to numbers,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HOMA-IR derived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causal: nothing after 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651760" cy="3108960"/>
          </a:xfrm>
          <a:prstGeom prst="roundRect">
            <a:avLst>
              <a:gd name="adj" fmla="val 8000"/>
            </a:avLst>
          </a:prstGeom>
          <a:solidFill>
            <a:srgbClr val="E7F1EC"/>
          </a:solidFill>
          <a:ln w="12700">
            <a:solidFill>
              <a:srgbClr val="1A6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Twin state at time t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CGM features: level, lags, trends,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2 h and 6 h windows, time of day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/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Event features: time since meal, food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in last 2 h, insulin on board, oral agent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/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Twin memory (learned per patient):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personal mean, time above range,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post-meal rise, usual meal times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/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EHR profile: 33 static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5544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5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Hyper head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P(rise above 180 mg/dL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within 2 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2606039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F5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Hypo head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P(fall below 70 mg/dL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within 2 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365760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6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Trajectory head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glucose at +30, +60,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+90, +120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93776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2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300" b="1">
                <a:solidFill>
                  <a:srgbClr val="1D2321"/>
                </a:solidFill>
                <a:latin typeface="Helvetica Neue"/>
              </a:rPr>
              <a:t>Clinician dashboard</a:t>
            </a:r>
          </a:p>
          <a:p>
            <a:pPr algn="l"/>
            <a:r>
              <a:rPr sz="1100">
                <a:solidFill>
                  <a:srgbClr val="66706C"/>
                </a:solidFill>
                <a:latin typeface="Helvetica Neue"/>
              </a:rPr>
              <a:t>EHR card · twin memory · CGM with forecast · 2 h risk timeline · alert threshold per ward · top-5 drivers (tree SHAP)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2286000"/>
            <a:ext cx="411480" cy="548639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017520" y="3566160"/>
            <a:ext cx="411480" cy="365760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06440" y="3200400"/>
            <a:ext cx="411480" cy="0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869680" y="2011680"/>
            <a:ext cx="411480" cy="1097280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69680" y="3063239"/>
            <a:ext cx="411480" cy="45721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9680" y="3108960"/>
            <a:ext cx="411480" cy="1051560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469880" y="4663440"/>
            <a:ext cx="0" cy="274320"/>
          </a:xfrm>
          <a:prstGeom prst="line">
            <a:avLst/>
          </a:prstGeom>
          <a:ln w="15875">
            <a:solidFill>
              <a:srgbClr val="1D23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281160" y="1261872"/>
            <a:ext cx="23774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LightGBM, one model per 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706C"/>
                </a:solidFill>
                <a:latin typeface="Helvetica Neue"/>
              </a:rPr>
              <a:t>Team Snack Overflow, RVCE · github.com/chxmq/SnackOverflow_RVCE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