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A6B54"/>
                </a:solidFill>
                <a:latin typeface="Helvetica Neue"/>
              </a:rPr>
              <a:t>HAPPIEST HEALTH DIGITAL TWIN CHALLENGE 2026 ·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1D2321"/>
                </a:solidFill>
                <a:latin typeface="Helvetica Neue"/>
              </a:rPr>
              <a:t>GlycoTwin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6706C"/>
                </a:solidFill>
                <a:latin typeface="Helvetica Neue"/>
              </a:rPr>
              <a:t>A type 2 diabetes digital twin that fuses the health record with a glucose sensor
and warns two hours before glucose leaves the safe range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4343400"/>
            <a:ext cx="10698480" cy="0"/>
          </a:xfrm>
          <a:prstGeom prst="line">
            <a:avLst/>
          </a:prstGeom>
          <a:ln w="9525">
            <a:solidFill>
              <a:srgbClr val="C9CC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4526280"/>
            <a:ext cx="1051560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321"/>
                </a:solidFill>
                <a:latin typeface="Helvetica Neue"/>
              </a:rPr>
              <a:t>Team Snack Overflow · RV College of Engineering, Bengaluru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706C"/>
                </a:solidFill>
                <a:latin typeface="Helvetica Neue"/>
              </a:rPr>
              <a:t>Yash Saraogi (lead) · Tallam Sri Sai Subramanyam · Yash Gautam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6B54"/>
                </a:solidFill>
                <a:latin typeface="Helvetica Neue"/>
              </a:rPr>
              <a:t>github.com/chxmq/SnackOverflow_RVCE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Between two clinic visits a doctor sees one HbA1c; the patient lives through 8,640 glucose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669280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D2321"/>
                </a:solidFill>
                <a:latin typeface="Helvetica Neue"/>
              </a:rPr>
              <a:t>101 million Indians live with diabetes and 136 million with prediabetes (ICMR-INDIAB, Lancet Diabetes &amp; Endocrinology, 2023).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D2321"/>
                </a:solidFill>
                <a:latin typeface="Helvetica Neue"/>
              </a:rPr>
              <a:t>HbA1c is a three-month average. It cannot say when glucose went high, or how low it fell at 3 am.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D2321"/>
                </a:solidFill>
                <a:latin typeface="Helvetica Neue"/>
              </a:rPr>
              <a:t>A 15-minute CGM records 96 readings a day: 8,640 per quarter. No clinician can read that raw.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321"/>
                </a:solidFill>
                <a:latin typeface="Helvetica Neue"/>
              </a:rPr>
              <a:t>Hypoglycaemia on insulin or sulfonylureas is the acute danger; repeated post-meal spikes are the slow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83080"/>
            <a:ext cx="4937760" cy="4023360"/>
          </a:xfrm>
          <a:prstGeom prst="roundRect">
            <a:avLst>
              <a:gd name="adj" fmla="val 8000"/>
            </a:avLst>
          </a:prstGeom>
          <a:solidFill>
            <a:srgbClr val="E7F1EC"/>
          </a:solidFill>
          <a:ln w="12700">
            <a:solidFill>
              <a:srgbClr val="1A6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600" b="1">
                <a:solidFill>
                  <a:srgbClr val="1D2321"/>
                </a:solidFill>
                <a:latin typeface="Helvetica Neue"/>
              </a:rPr>
              <a:t>What is missing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A model of this one patient that: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  1. reads the record AND the live stream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  2. learns how this person responds to meals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  3. says, two hours early, which way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      glucose is about to leave range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  4. shows a doctor why it thinks so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That is our digital twin, scoped to one</a:t>
            </a:r>
          </a:p>
          <a:p>
            <a:pPr algn="l"/>
            <a:r>
              <a:rPr sz="1500">
                <a:solidFill>
                  <a:srgbClr val="66706C"/>
                </a:solidFill>
                <a:latin typeface="Helvetica Neue"/>
              </a:rPr>
              <a:t>condition: type 2 diabetes.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HEALTHCARE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Use case: a diabetes team watches a panel of CGM-wearing patients and acts before the excursion, not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37943"/>
            <a:ext cx="2743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6706C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37943"/>
            <a:ext cx="42062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6706C"/>
                </a:solidFill>
                <a:latin typeface="Helvetica Neue"/>
              </a:rPr>
              <a:t>What the twin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837943"/>
            <a:ext cx="4114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6706C"/>
                </a:solidFill>
                <a:latin typeface="Helvetica Neue"/>
              </a:rPr>
              <a:t>What the clinician can 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322576"/>
            <a:ext cx="1106424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359152"/>
            <a:ext cx="2743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59152"/>
            <a:ext cx="42062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Endocrinologist, diabetes educator, ward nurse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59152"/>
            <a:ext cx="4114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Inpatient ward or remote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62072"/>
            <a:ext cx="2743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62072"/>
            <a:ext cx="42062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Record at admission + live CGM + meal and dose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862072"/>
            <a:ext cx="4114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No new hardware beyond a CGM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64991"/>
            <a:ext cx="2743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Hyper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364991"/>
            <a:ext cx="42062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Rise above 180 mg/dL within 2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364991"/>
            <a:ext cx="4114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Check meal, correction dose, walk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67911"/>
            <a:ext cx="2743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Hypo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867911"/>
            <a:ext cx="42062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Fall below 70 mg/dL within 2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867911"/>
            <a:ext cx="4114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Snack, hold sulfonylurea / insulin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70831"/>
            <a:ext cx="2743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Twin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370831"/>
            <a:ext cx="42062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Personal post-meal rise, usual meal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70831"/>
            <a:ext cx="4114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Tailor dose and diet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73751"/>
            <a:ext cx="27432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Explanation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73751"/>
            <a:ext cx="42062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Top 5 drivers per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873751"/>
            <a:ext cx="4114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Doctor can overrule a wrong reason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394959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706C"/>
                </a:solidFill>
                <a:latin typeface="Helvetica Neue"/>
              </a:rPr>
              <a:t>The twin does not dose or prescribe. It is decision support: it ranks who needs attention in the next two hours and explains why.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DATA AND SANDBOX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We used real, anonymised patient data: 100 people with type 2 diabetes, 1170 patient-days of CGM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37943"/>
            <a:ext cx="29260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37943"/>
            <a:ext cx="1828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837943"/>
            <a:ext cx="6309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Detail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276856"/>
            <a:ext cx="1106424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313432"/>
            <a:ext cx="29260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13432"/>
            <a:ext cx="1828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13432"/>
            <a:ext cx="6309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ShanghaiT2DM (Zhao et al., Scientific Data 10:35, 2023), CC BY 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70632"/>
            <a:ext cx="29260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Patients / periods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70632"/>
            <a:ext cx="1828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100 / 109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70632"/>
            <a:ext cx="6309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Some patients were monitored in more than one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27832"/>
            <a:ext cx="29260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CGM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27832"/>
            <a:ext cx="1828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112,287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27832"/>
            <a:ext cx="6309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15-min interval, 3 to 14 days per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85032"/>
            <a:ext cx="29260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Static (EHR)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85032"/>
            <a:ext cx="1828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33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685032"/>
            <a:ext cx="6309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Age, sex, BMI, smoking, diabetes years, complications, comorbidities, drugs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42232"/>
            <a:ext cx="29260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142232"/>
            <a:ext cx="1828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16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42232"/>
            <a:ext cx="6309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FPG, 2 h PPG, C-peptide, insulin, HbA1c, glycated albumin, lipids, eGFR, uric acid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99432"/>
            <a:ext cx="29260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Dynamic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599432"/>
            <a:ext cx="1828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4 kinds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599432"/>
            <a:ext cx="6309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Meals with grams, s.c. insulin, pump bolus and basal, oral agents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074920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Why not only synthetic data: a model trained on our own simulator would learn our simulator. Real CGM keeps us honest.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706C"/>
                </a:solidFill>
                <a:latin typeface="Helvetica Neue"/>
              </a:rPr>
              <a:t>Sandbox rules: the data is public, de-identified and openly licensed. No identifiable patient data is used anywhere (DPDP Act and HIPAA).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Architecture: two streams in, one twin state every 15 minutes, three predictions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7F1EC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Static stream: EHR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one row per monitoring period: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age, sex, BMI, years with T2D,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complications, comorbidities,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16 labs (HbA1c, C-peptide, eGFR...),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drugs, past hypoglycaemia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7F1EC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Dynamic stream: sensor + logs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CGM every 15 min (mg/dL)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meals (free text, grams)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s.c. insulin, pump bolus/basal,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oral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Planned, not in this PoC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FHIR R4 / ABDM records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Apple Health, Google Fit: HR, steps, sleep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Ingest and align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regular 15-min grid per patient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gap fill only up to 30 min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parse meals (g), insulin (IU)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EHR fields to numbers,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HOMA-IR derived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causal: nothing after 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E7F1EC"/>
          </a:solidFill>
          <a:ln w="12700">
            <a:solidFill>
              <a:srgbClr val="1A6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Twin state at time t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CGM features: level, lags, trends,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2 h and 6 h windows, time of day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Event features: time since meal, food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in last 2 h, insulin on board, oral agent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Twin memory (learned per patient):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personal mean, time above range,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post-meal rise, usual meal times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EHR profile: 33 static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554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5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Hyper head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P(rise above 180 mg/dL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within 2 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606039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F5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Hypo head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P(fall below 70 mg/dL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within 2 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36576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6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Trajectory head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glucose at +30, +60,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+90, +120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3776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Clinician dashboard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EHR card · twin memory · CGM with forecast · 2 h risk timeline · alert threshold per ward · top-5 drivers (tree SHAP)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286000"/>
            <a:ext cx="411480" cy="548639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17520" y="3566160"/>
            <a:ext cx="411480" cy="36576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06440" y="3200400"/>
            <a:ext cx="411480" cy="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869680" y="2011680"/>
            <a:ext cx="411480" cy="109728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869680" y="3063239"/>
            <a:ext cx="411480" cy="45721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69680" y="3108960"/>
            <a:ext cx="411480" cy="105156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69880" y="4663440"/>
            <a:ext cx="0" cy="27432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281160" y="1261872"/>
            <a:ext cx="23774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LightGBM, one model per 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THE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What makes it a twin and not just a forecaster: it keeps a memory of this patient and updates it as data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37943"/>
            <a:ext cx="32918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Twin memory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37943"/>
            <a:ext cx="47548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How it is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837943"/>
            <a:ext cx="30175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Available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322576"/>
            <a:ext cx="1106424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359152"/>
            <a:ext cx="32918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Personal mean glucose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59152"/>
            <a:ext cx="47548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Running mean of every CGM reading so far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59152"/>
            <a:ext cx="30175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starts after 2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62072"/>
            <a:ext cx="32918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Personal time above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62072"/>
            <a:ext cx="47548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Share of readings ≥ 180 mg/dL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62072"/>
            <a:ext cx="30175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starts after 2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64991"/>
            <a:ext cx="32918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Personal post-meal 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64991"/>
            <a:ext cx="47548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Mean peak rise in the 2 h after each past meal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364991"/>
            <a:ext cx="30175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after first meal + 2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67911"/>
            <a:ext cx="32918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Usual meal in next 2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867911"/>
            <a:ext cx="47548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Share of past days with a meal logged in this clock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867911"/>
            <a:ext cx="30175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from day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70831"/>
            <a:ext cx="32918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EHR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370831"/>
            <a:ext cx="47548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HbA1c, C-peptide, HOMA-IR, drugs, complications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370831"/>
            <a:ext cx="30175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fixed per period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892039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Each item is computed only from data before time t. A meal counts toward the post-meal rise only once its 2-hour window has fully passed, so the label never leaks into the feature.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706C"/>
                </a:solidFill>
                <a:latin typeface="Helvetica Neue"/>
              </a:rPr>
              <a:t>The twin replays forward: drag the dashboard cursor and the memory grows exactly as it would have at the bedside.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Evaluation protocol: every number in this deck is on patients the model never saw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321"/>
                </a:solidFill>
                <a:latin typeface="Helvetica Neue"/>
              </a:rPr>
              <a:t>Targets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Hyper: glucose now &lt; 180, and any reading ≥ 180 in the next 2 h.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Hypo: glucose now ≥ 70, and any reading &lt; 70 in the next 2 h.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321"/>
                </a:solidFill>
                <a:latin typeface="Helvetica Neue"/>
              </a:rPr>
              <a:t>Splits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5-fold GroupKFold by patient. A patient's periods never straddle train and test.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321"/>
                </a:solidFill>
                <a:latin typeface="Helvetica Neue"/>
              </a:rPr>
              <a:t>Alert threshold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Fixed at p ≥ 0.5 before looking at any test fold. Not tuned.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212080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321"/>
                </a:solidFill>
                <a:latin typeface="Helvetica Neue"/>
              </a:rPr>
              <a:t>Uncertainty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95% confidence intervals by bootstrapping patients (500 resamples), not windows, because windows from one patient are correlated.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321"/>
                </a:solidFill>
                <a:latin typeface="Helvetica Neue"/>
              </a:rPr>
              <a:t>Baselines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Trend rule: current glucose plus twice the last 30-min change, what a nurse would eyeball.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Ablations: EHR only, CGM only, CGM + events, + twin memory, + EHR.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321"/>
                </a:solidFill>
                <a:latin typeface="Helvetica Neue"/>
              </a:rPr>
              <a:t>Windows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321"/>
                </a:solidFill>
                <a:latin typeface="Helvetica Neue"/>
              </a:rPr>
              <a:t>Hyper: 90,105 windows, 15% positive. Hypo: 109,020 windows, 2.8% positive.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On patients it never saw, the twin flags highs at AUROC 0.878 and lows at 0.907, well above a nurse's trend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91640"/>
            <a:ext cx="1097280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46504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Model (5-fold, patient-held-out)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74650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Hyper AUROC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4650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Hyper AUPRC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74650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Hypo AUROC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74650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Hypo AUPRC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130552"/>
            <a:ext cx="1097280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167128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Trend rule (no 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6712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0.746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6712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0.388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6712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16712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0.182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69464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EHR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6946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0.776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56946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0.381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946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0.584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56946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71800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CGM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971800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971800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0.570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971800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0.901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971800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0.311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374136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CGM +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374136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374136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0.581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74136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374136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0.274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76472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6B54"/>
                </a:solidFill>
                <a:latin typeface="Helvetica Neue"/>
              </a:rPr>
              <a:t>Personal twin: CGM + events + twin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776472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1A6B54"/>
                </a:solidFill>
                <a:latin typeface="Helvetica Neue"/>
              </a:rPr>
              <a:t>0.878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776472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1A6B54"/>
                </a:solidFill>
                <a:latin typeface="Helvetica Neue"/>
              </a:rPr>
              <a:t>0.603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776472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1A6B54"/>
                </a:solidFill>
                <a:latin typeface="Helvetica Neue"/>
              </a:rPr>
              <a:t>0.907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776472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1A6B54"/>
                </a:solidFill>
                <a:latin typeface="Helvetica Neue"/>
              </a:rPr>
              <a:t>0.296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178808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Personal twin + 9 core EHR fields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17880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17880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0.601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17880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0.898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4178808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0.270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81144"/>
            <a:ext cx="45720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Full twin: + all 33 EHR fields (dashboard)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58114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458114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0.593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58114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0.900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4581144"/>
            <a:ext cx="1600200" cy="4023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0.270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001768"/>
            <a:ext cx="1097280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Full twin minus trend rule, AUROC, 95% CI over patients: highs [+0.107, +0.144], lows [+0.048, +0.100].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6706C"/>
                </a:solidFill>
                <a:latin typeface="Helvetica Neue"/>
              </a:rPr>
              <a:t>Chance level for AUPRC is the prevalence: 0.152 for highs, 0.028 for 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The timing comes from the live sensor, the twin's memory of the patient adds to it, and the record alone cannot time an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pic>
        <p:nvPicPr>
          <p:cNvPr id="6" name="Picture 5" descr="ablation_au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WHAT FUSION WITH THE RECORD BOUGHT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Honest finding: once the twin has a few hours of glucose, the static record adds no measurable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691640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46504"/>
            <a:ext cx="42062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AUROC gain over CGM only, 95%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1746504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Highs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1746504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46504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Day-1 highs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1746504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Day-1 lows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185416"/>
            <a:ext cx="1106424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221992"/>
            <a:ext cx="42062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Personal twin (memory, no EHR)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219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[+0.007, +0.020]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2219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[-0.004, +0.015]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2219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22219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79192"/>
            <a:ext cx="42062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+ 9 core EHR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6791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[+0.002, +0.018]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6791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[-0.015, +0.009]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6791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26791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36392"/>
            <a:ext cx="42062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+ all 33 EHR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1363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[+0.001, +0.015]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1363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[-0.013, +0.010]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1363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1363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93592"/>
            <a:ext cx="42062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CGM only (reference)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35935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3593592"/>
            <a:ext cx="20116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5935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0.815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93592"/>
            <a:ext cx="14173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0.907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069080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D2321"/>
                </a:solidFill>
                <a:latin typeface="Helvetica Neue"/>
              </a:rPr>
              <a:t>Highs: the memory gain excludes zero. Lows: every interval includes zero, so we claim no gain there.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Why the record adds nothing here: the twin's learned mean glucose and time above range are a current, personal version of what HbA1c summarises over three months. With 100 patients, 33 static fields mostly let trees memorise who is who.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The record still carries population risk on its own (EHR-only AUROC 0.776 for highs), and the clinician needs it beside every alert. In the dashboard it is context, not the source of the timing.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6706C"/>
                </a:solidFill>
                <a:latin typeface="Helvetica Neue"/>
              </a:rPr>
              <a:t>Day 1 = the first calendar day of monitoring, before the memory has filled. Even there the record did not add accuracy in this cohort.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ALERT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What a ward would see: at p ≥ 0.5 the twin catches 89% of highs before onset; lows are rarer and need a lower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pic>
        <p:nvPicPr>
          <p:cNvPr id="6" name="Picture 5" descr="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498079" cy="2931067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8229600" y="1737360"/>
            <a:ext cx="379476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0" y="1792224"/>
            <a:ext cx="11887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6706C"/>
                </a:solidFill>
                <a:latin typeface="Helvetica Neue"/>
              </a:rPr>
              <a:t>Personal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92224"/>
            <a:ext cx="914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66706C"/>
                </a:solidFill>
                <a:latin typeface="Helvetica Neue"/>
              </a:rPr>
              <a:t>Caught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792224"/>
            <a:ext cx="822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66706C"/>
                </a:solidFill>
                <a:latin typeface="Helvetica Neue"/>
              </a:rPr>
              <a:t>Lead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792224"/>
            <a:ext cx="868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66706C"/>
                </a:solidFill>
                <a:latin typeface="Helvetica Neue"/>
              </a:rPr>
              <a:t>False/day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2139696"/>
            <a:ext cx="379476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0" y="2176272"/>
            <a:ext cx="11887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Highs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176272"/>
            <a:ext cx="914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89%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822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2176272"/>
            <a:ext cx="868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0.99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42032"/>
            <a:ext cx="11887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Highs 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42032"/>
            <a:ext cx="914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542032"/>
            <a:ext cx="822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2542032"/>
            <a:ext cx="868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2.06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07791"/>
            <a:ext cx="11887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Lows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907791"/>
            <a:ext cx="914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907791"/>
            <a:ext cx="822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2907791"/>
            <a:ext cx="868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0.14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73551"/>
            <a:ext cx="11887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Lows 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273551"/>
            <a:ext cx="914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82%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273551"/>
            <a:ext cx="822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3273551"/>
            <a:ext cx="868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0.60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39311"/>
            <a:ext cx="11887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Lows 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639311"/>
            <a:ext cx="914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3639311"/>
            <a:ext cx="822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3639311"/>
            <a:ext cx="8686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1D2321"/>
                </a:solidFill>
                <a:latin typeface="Helvetica Neue"/>
              </a:rPr>
              <a:t>1.10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0" y="4023359"/>
            <a:ext cx="379476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4251960"/>
            <a:ext cx="3474720" cy="2103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D2321"/>
                </a:solidFill>
                <a:latin typeface="Helvetica Neue"/>
              </a:rPr>
              <a:t>Excursions: 1,991 highs, 448 lows in held-out data. Caught = an alert in the 2 h before the crossing. False = an alert run with no crossing in the next 2 h.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6706C"/>
                </a:solidFill>
                <a:latin typeface="Helvetica Neue"/>
              </a:rPr>
              <a:t>0.5 was fixed in advance. The other rows are read off the same curve to show the cost, not tuned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TRAJECTORY AND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The twin also forecasts the trajectory: 15.9 mg/dL mean error at 60 min versus 20.2 for 'no change'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pic>
        <p:nvPicPr>
          <p:cNvPr id="6" name="Picture 5" descr="forecast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406390" cy="3931920"/>
          </a:xfrm>
          <a:prstGeom prst="rect">
            <a:avLst/>
          </a:prstGeom>
        </p:spPr>
      </p:pic>
      <p:pic>
        <p:nvPicPr>
          <p:cNvPr id="7" name="Picture 6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37360"/>
            <a:ext cx="6172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572000"/>
            <a:ext cx="557784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Calibration (right): predicted risk against the observed rate in held-out patients. Points near the diagonal mean a 30% alert really means about 30%.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6706C"/>
                </a:solidFill>
                <a:latin typeface="Helvetica Neue"/>
              </a:rPr>
              <a:t>Per-patient AUROC for the hyper head: median 0.87 (IQR 0.82 to 0.90) across 98 patients with events.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CLINICIAN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The doctor's view: one screen per virtual patient, replayable, with the reason for every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54480"/>
            <a:ext cx="77216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706C"/>
                </a:solidFill>
                <a:latin typeface="Helvetica Neue"/>
              </a:rPr>
              <a:t>Live: chxmq.github.io/SnackOverflow_RVCE  ·  every number shown is an out-of-fold prediction for a held-out patient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What drives the twin: glucose now and its trend, the clock, and what the twin has learned about this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530352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37943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706C"/>
                </a:solidFill>
                <a:latin typeface="Helvetica Neue"/>
              </a:rPr>
              <a:t>Hyper head: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37943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6706C"/>
                </a:solidFill>
                <a:latin typeface="Helvetica Neue"/>
              </a:rPr>
              <a:t>mean |SHAP|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203704"/>
            <a:ext cx="530352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240280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Time of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40280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1.163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24328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Current glucose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24328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0.453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08376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Personal mean glucose (learned)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08376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0.236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92424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15-min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92424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76472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60-min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76472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Time since last meal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60520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44568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Personal post-meal rise (learned)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44568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28616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Personal time above range (learned)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928616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0.120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330951"/>
            <a:ext cx="530352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0" y="1783080"/>
            <a:ext cx="530352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1837943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706C"/>
                </a:solidFill>
                <a:latin typeface="Helvetica Neue"/>
              </a:rPr>
              <a:t>Hypo head: feature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837943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6706C"/>
                </a:solidFill>
                <a:latin typeface="Helvetica Neue"/>
              </a:rPr>
              <a:t>mean |SHAP|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2203704"/>
            <a:ext cx="530352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0" y="2240280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Current glucose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240280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624328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Personal mean glucose (learned)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624328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0.385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008376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Personal variability (learned)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008376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0.303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392424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2 h minimum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392424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0.233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76472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60-min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776472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160520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15-min trend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160520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544568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Personal time above range (learned)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544568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0.168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928616"/>
            <a:ext cx="3840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2 h glucose variability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928616"/>
            <a:ext cx="146304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0.164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0" y="5330951"/>
            <a:ext cx="530352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2321"/>
                </a:solidFill>
                <a:latin typeface="Helvetica Neue"/>
              </a:rPr>
              <a:t>Time of day ranks high for highs because this is a hospital cohort with fixed meal times. In outpatients we expect logged meals to take that role.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6706C"/>
                </a:solidFill>
                <a:latin typeface="Helvetica Neue"/>
              </a:rPr>
              <a:t>Mean absolute tree-SHAP contribution in log-odds on held-out predictions (full twin). The dashboard shows the same values per alert.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LIMITATIONS,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What this proof of concept does not show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D2321"/>
                </a:solidFill>
                <a:latin typeface="Helvetica Neue"/>
              </a:rPr>
              <a:t>One cohort: Chinese adults, mostly monitored in hospital. Indian diets, outpatient life and Indian CGM users need their own validation.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D2321"/>
                </a:solidFill>
                <a:latin typeface="Helvetica Neue"/>
              </a:rPr>
              <a:t>Short memory: 3 to 14 days per period, so the twin learns habits from at most two weeks.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D2321"/>
                </a:solidFill>
                <a:latin typeface="Helvetica Neue"/>
              </a:rPr>
              <a:t>No heart rate, steps or sleep in this dataset. The wearable adapters are designed but untested, so we make no claim about them.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D2321"/>
                </a:solidFill>
                <a:latin typeface="Helvetica Neue"/>
              </a:rPr>
              <a:t>Meal size comes from logged grams of food, not carbohydrate counts.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D2321"/>
                </a:solidFill>
                <a:latin typeface="Helvetica Neue"/>
              </a:rPr>
              <a:t>Retrospective only. No prospective or silent-mode trial yet, and not a medical device.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321"/>
                </a:solidFill>
                <a:latin typeface="Helvetica Neue"/>
              </a:rPr>
              <a:t>Associations, not causes: the twin warns and explains, but it does not simulate the effect of a dose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Path to an Indian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37943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37943"/>
            <a:ext cx="557784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37943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706C"/>
                </a:solidFill>
                <a:latin typeface="Helvetica Neue"/>
              </a:rPr>
              <a:t>Success measure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386584"/>
            <a:ext cx="11064240" cy="0"/>
          </a:xfrm>
          <a:prstGeom prst="line">
            <a:avLst/>
          </a:prstGeom>
          <a:ln w="63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423160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Wearables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23160"/>
            <a:ext cx="557784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Add HR, HRV, steps and sleep from Apple Health / Google Fit as dynamic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23160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Measure the AUROC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90088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90088"/>
            <a:ext cx="557784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Read EHR through FHIR R4 / ABDM instead of a spreadsheet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990088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Same twin, live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57016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Indian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57016"/>
            <a:ext cx="557784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Retrain and recalibrate on Indian CGM data with consent under DPDP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557016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Calibration per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Silent trial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123944"/>
            <a:ext cx="557784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Run beside a ward for 4 weeks; compare alerts with what happened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123944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Alert burden, lead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90872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Mechanistic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690872"/>
            <a:ext cx="557784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Pair with a physiological glucose model for what-if dose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690872"/>
            <a:ext cx="274320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321"/>
                </a:solidFill>
                <a:latin typeface="Helvetica Neue"/>
              </a:rPr>
              <a:t>True counterfactuals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276088"/>
            <a:ext cx="11064240" cy="0"/>
          </a:xfrm>
          <a:prstGeom prst="line">
            <a:avLst/>
          </a:prstGeom>
          <a:ln w="19050">
            <a:solidFill>
              <a:srgbClr val="1D23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66928"/>
            <a:ext cx="1106424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2321"/>
                </a:solidFill>
                <a:latin typeface="Helvetica Neue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GlycoTwin · Team Snack Overflow, RVCE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3657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D2321"/>
                </a:solidFill>
                <a:latin typeface="Helvetica Neue"/>
              </a:rPr>
              <a:t>Real data: 100 patients with type 2 diabetes, EHR plus 15-min CGM, fused into one twin state.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D2321"/>
                </a:solidFill>
                <a:latin typeface="Helvetica Neue"/>
              </a:rPr>
              <a:t>Held-out patients: AUROC 0.878 for highs and 0.907 for lows two hours ahead, clearly above a trend rule.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D2321"/>
                </a:solidFill>
                <a:latin typeface="Helvetica Neue"/>
              </a:rPr>
              <a:t>Measured, not assumed: the twin's memory of the patient adds accuracy for highs; the static record, in this cohort, does not.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D2321"/>
                </a:solidFill>
                <a:latin typeface="Helvetica Neue"/>
              </a:rPr>
              <a:t>A clinician dashboard that replays the twin and explains every alert.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321"/>
                </a:solidFill>
                <a:latin typeface="Helvetica Neue"/>
              </a:rPr>
              <a:t>Open source under MIT. One command reproduces every number.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120640"/>
            <a:ext cx="11064240" cy="0"/>
          </a:xfrm>
          <a:prstGeom prst="line">
            <a:avLst/>
          </a:prstGeom>
          <a:ln w="9525">
            <a:solidFill>
              <a:srgbClr val="C9CC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6B54"/>
                </a:solidFill>
                <a:latin typeface="Helvetica Neue"/>
              </a:rPr>
              <a:t>github.com/chxmq/SnackOverflow_RVCE  ·  chxmq.github.io/SnackOverflow_RVCE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706C"/>
                </a:solidFill>
                <a:latin typeface="Helvetica Neue"/>
              </a:rPr>
              <a:t>Team Snack Overflow · RV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